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600"/>
              <a:t>Revenue by region (USD M)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APAC</c:v>
                </c:pt>
              </c:strCache>
            </c:strRef>
          </c:tx>
          <c:spPr>
            <a:ln w="31750">
              <a:solidFill>
                <a:srgbClr val="008878"/>
              </a:solidFill>
            </a:ln>
          </c:spPr>
          <c:cat>
            <c:strRef>
              <c:f>Sheet1!$A$2:$A$5</c:f>
              <c:strCache>
                <c:ptCount val="4"/>
                <c:pt idx="0">
                  <c:v>2025-Q3</c:v>
                </c:pt>
                <c:pt idx="1">
                  <c:v>2025-Q4</c:v>
                </c:pt>
                <c:pt idx="2">
                  <c:v>2026-Q1</c:v>
                </c:pt>
                <c:pt idx="3">
                  <c:v>2026-Q2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260.0</c:v>
                </c:pt>
                <c:pt idx="1">
                  <c:v>300.0</c:v>
                </c:pt>
                <c:pt idx="2">
                  <c:v>305.0</c:v>
                </c:pt>
                <c:pt idx="3">
                  <c:v>330.0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Europe</c:v>
                </c:pt>
              </c:strCache>
            </c:strRef>
          </c:tx>
          <c:spPr>
            <a:ln w="31750">
              <a:solidFill>
                <a:srgbClr val="BF8500"/>
              </a:solidFill>
            </a:ln>
          </c:spPr>
          <c:cat>
            <c:strRef>
              <c:f>Sheet1!$A$2:$A$5</c:f>
              <c:strCache>
                <c:ptCount val="4"/>
                <c:pt idx="0">
                  <c:v>2025-Q3</c:v>
                </c:pt>
                <c:pt idx="1">
                  <c:v>2025-Q4</c:v>
                </c:pt>
                <c:pt idx="2">
                  <c:v>2026-Q1</c:v>
                </c:pt>
                <c:pt idx="3">
                  <c:v>2026-Q2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310.0</c:v>
                </c:pt>
                <c:pt idx="1">
                  <c:v>350.0</c:v>
                </c:pt>
                <c:pt idx="2">
                  <c:v>330.0</c:v>
                </c:pt>
                <c:pt idx="3">
                  <c:v>345.0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Latin America</c:v>
                </c:pt>
              </c:strCache>
            </c:strRef>
          </c:tx>
          <c:spPr>
            <a:ln w="31750">
              <a:solidFill>
                <a:srgbClr val="C33B44"/>
              </a:solidFill>
            </a:ln>
          </c:spPr>
          <c:cat>
            <c:strRef>
              <c:f>Sheet1!$A$2:$A$5</c:f>
              <c:strCache>
                <c:ptCount val="4"/>
                <c:pt idx="0">
                  <c:v>2025-Q3</c:v>
                </c:pt>
                <c:pt idx="1">
                  <c:v>2025-Q4</c:v>
                </c:pt>
                <c:pt idx="2">
                  <c:v>2026-Q1</c:v>
                </c:pt>
                <c:pt idx="3">
                  <c:v>2026-Q2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150.0</c:v>
                </c:pt>
                <c:pt idx="1">
                  <c:v>165.0</c:v>
                </c:pt>
                <c:pt idx="2">
                  <c:v>150.0</c:v>
                </c:pt>
                <c:pt idx="3">
                  <c:v>140.0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North America</c:v>
                </c:pt>
              </c:strCache>
            </c:strRef>
          </c:tx>
          <c:spPr>
            <a:ln w="31750">
              <a:solidFill>
                <a:srgbClr val="3169A6"/>
              </a:solidFill>
            </a:ln>
          </c:spPr>
          <c:cat>
            <c:strRef>
              <c:f>Sheet1!$A$2:$A$5</c:f>
              <c:strCache>
                <c:ptCount val="4"/>
                <c:pt idx="0">
                  <c:v>2025-Q3</c:v>
                </c:pt>
                <c:pt idx="1">
                  <c:v>2025-Q4</c:v>
                </c:pt>
                <c:pt idx="2">
                  <c:v>2026-Q1</c:v>
                </c:pt>
                <c:pt idx="3">
                  <c:v>2026-Q2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420.0</c:v>
                </c:pt>
                <c:pt idx="1">
                  <c:v>460.0</c:v>
                </c:pt>
                <c:pt idx="2">
                  <c:v>440.0</c:v>
                </c:pt>
                <c:pt idx="3">
                  <c:v>465.0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600"/>
              <a:t>Customer NPS by region (points)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APAC</c:v>
                </c:pt>
              </c:strCache>
            </c:strRef>
          </c:tx>
          <c:spPr>
            <a:ln w="31750">
              <a:solidFill>
                <a:srgbClr val="008878"/>
              </a:solidFill>
            </a:ln>
          </c:spPr>
          <c:cat>
            <c:strRef>
              <c:f>Sheet1!$A$2:$A$5</c:f>
              <c:strCache>
                <c:ptCount val="4"/>
                <c:pt idx="0">
                  <c:v>2025-Q3</c:v>
                </c:pt>
                <c:pt idx="1">
                  <c:v>2025-Q4</c:v>
                </c:pt>
                <c:pt idx="2">
                  <c:v>2026-Q1</c:v>
                </c:pt>
                <c:pt idx="3">
                  <c:v>2026-Q2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58.0</c:v>
                </c:pt>
                <c:pt idx="1">
                  <c:v>60.0</c:v>
                </c:pt>
                <c:pt idx="2">
                  <c:v>61.0</c:v>
                </c:pt>
                <c:pt idx="3">
                  <c:v>62.0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Europe</c:v>
                </c:pt>
              </c:strCache>
            </c:strRef>
          </c:tx>
          <c:spPr>
            <a:ln w="31750">
              <a:solidFill>
                <a:srgbClr val="BF8500"/>
              </a:solidFill>
            </a:ln>
          </c:spPr>
          <c:cat>
            <c:strRef>
              <c:f>Sheet1!$A$2:$A$5</c:f>
              <c:strCache>
                <c:ptCount val="4"/>
                <c:pt idx="0">
                  <c:v>2025-Q3</c:v>
                </c:pt>
                <c:pt idx="1">
                  <c:v>2025-Q4</c:v>
                </c:pt>
                <c:pt idx="2">
                  <c:v>2026-Q1</c:v>
                </c:pt>
                <c:pt idx="3">
                  <c:v>2026-Q2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48.0</c:v>
                </c:pt>
                <c:pt idx="1">
                  <c:v>50.0</c:v>
                </c:pt>
                <c:pt idx="2">
                  <c:v>51.0</c:v>
                </c:pt>
                <c:pt idx="3">
                  <c:v>53.0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Latin America</c:v>
                </c:pt>
              </c:strCache>
            </c:strRef>
          </c:tx>
          <c:spPr>
            <a:ln w="31750">
              <a:solidFill>
                <a:srgbClr val="C33B44"/>
              </a:solidFill>
            </a:ln>
          </c:spPr>
          <c:cat>
            <c:strRef>
              <c:f>Sheet1!$A$2:$A$5</c:f>
              <c:strCache>
                <c:ptCount val="4"/>
                <c:pt idx="0">
                  <c:v>2025-Q3</c:v>
                </c:pt>
                <c:pt idx="1">
                  <c:v>2025-Q4</c:v>
                </c:pt>
                <c:pt idx="2">
                  <c:v>2026-Q1</c:v>
                </c:pt>
                <c:pt idx="3">
                  <c:v>2026-Q2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38.0</c:v>
                </c:pt>
                <c:pt idx="1">
                  <c:v>35.0</c:v>
                </c:pt>
                <c:pt idx="2">
                  <c:v>32.0</c:v>
                </c:pt>
                <c:pt idx="3">
                  <c:v>29.0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North America</c:v>
                </c:pt>
              </c:strCache>
            </c:strRef>
          </c:tx>
          <c:spPr>
            <a:ln w="31750">
              <a:solidFill>
                <a:srgbClr val="3169A6"/>
              </a:solidFill>
            </a:ln>
          </c:spPr>
          <c:cat>
            <c:strRef>
              <c:f>Sheet1!$A$2:$A$5</c:f>
              <c:strCache>
                <c:ptCount val="4"/>
                <c:pt idx="0">
                  <c:v>2025-Q3</c:v>
                </c:pt>
                <c:pt idx="1">
                  <c:v>2025-Q4</c:v>
                </c:pt>
                <c:pt idx="2">
                  <c:v>2026-Q1</c:v>
                </c:pt>
                <c:pt idx="3">
                  <c:v>2026-Q2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52.0</c:v>
                </c:pt>
                <c:pt idx="1">
                  <c:v>54.0</c:v>
                </c:pt>
                <c:pt idx="2">
                  <c:v>53.0</c:v>
                </c:pt>
                <c:pt idx="3">
                  <c:v>55.0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600"/>
              <a:t>Stockout rate by region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APAC</c:v>
                </c:pt>
              </c:strCache>
            </c:strRef>
          </c:tx>
          <c:spPr>
            <a:ln w="31750">
              <a:solidFill>
                <a:srgbClr val="008878"/>
              </a:solidFill>
            </a:ln>
          </c:spPr>
          <c:cat>
            <c:strRef>
              <c:f>Sheet1!$A$2:$A$5</c:f>
              <c:strCache>
                <c:ptCount val="4"/>
                <c:pt idx="0">
                  <c:v>2025-Q3</c:v>
                </c:pt>
                <c:pt idx="1">
                  <c:v>2025-Q4</c:v>
                </c:pt>
                <c:pt idx="2">
                  <c:v>2026-Q1</c:v>
                </c:pt>
                <c:pt idx="3">
                  <c:v>2026-Q2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6.0</c:v>
                </c:pt>
                <c:pt idx="1">
                  <c:v>7.5</c:v>
                </c:pt>
                <c:pt idx="2">
                  <c:v>8.0</c:v>
                </c:pt>
                <c:pt idx="3">
                  <c:v>8.5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Europe</c:v>
                </c:pt>
              </c:strCache>
            </c:strRef>
          </c:tx>
          <c:spPr>
            <a:ln w="31750">
              <a:solidFill>
                <a:srgbClr val="BF8500"/>
              </a:solidFill>
            </a:ln>
          </c:spPr>
          <c:cat>
            <c:strRef>
              <c:f>Sheet1!$A$2:$A$5</c:f>
              <c:strCache>
                <c:ptCount val="4"/>
                <c:pt idx="0">
                  <c:v>2025-Q3</c:v>
                </c:pt>
                <c:pt idx="1">
                  <c:v>2025-Q4</c:v>
                </c:pt>
                <c:pt idx="2">
                  <c:v>2026-Q1</c:v>
                </c:pt>
                <c:pt idx="3">
                  <c:v>2026-Q2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4.0</c:v>
                </c:pt>
                <c:pt idx="1">
                  <c:v>4.5</c:v>
                </c:pt>
                <c:pt idx="2">
                  <c:v>4.2</c:v>
                </c:pt>
                <c:pt idx="3">
                  <c:v>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Latin America</c:v>
                </c:pt>
              </c:strCache>
            </c:strRef>
          </c:tx>
          <c:spPr>
            <a:ln w="31750">
              <a:solidFill>
                <a:srgbClr val="C33B44"/>
              </a:solidFill>
            </a:ln>
          </c:spPr>
          <c:cat>
            <c:strRef>
              <c:f>Sheet1!$A$2:$A$5</c:f>
              <c:strCache>
                <c:ptCount val="4"/>
                <c:pt idx="0">
                  <c:v>2025-Q3</c:v>
                </c:pt>
                <c:pt idx="1">
                  <c:v>2025-Q4</c:v>
                </c:pt>
                <c:pt idx="2">
                  <c:v>2026-Q1</c:v>
                </c:pt>
                <c:pt idx="3">
                  <c:v>2026-Q2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9.0</c:v>
                </c:pt>
                <c:pt idx="1">
                  <c:v>10.5</c:v>
                </c:pt>
                <c:pt idx="2">
                  <c:v>11.0</c:v>
                </c:pt>
                <c:pt idx="3">
                  <c:v>12.5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North America</c:v>
                </c:pt>
              </c:strCache>
            </c:strRef>
          </c:tx>
          <c:spPr>
            <a:ln w="31750">
              <a:solidFill>
                <a:srgbClr val="3169A6"/>
              </a:solidFill>
            </a:ln>
          </c:spPr>
          <c:cat>
            <c:strRef>
              <c:f>Sheet1!$A$2:$A$5</c:f>
              <c:strCache>
                <c:ptCount val="4"/>
                <c:pt idx="0">
                  <c:v>2025-Q3</c:v>
                </c:pt>
                <c:pt idx="1">
                  <c:v>2025-Q4</c:v>
                </c:pt>
                <c:pt idx="2">
                  <c:v>2026-Q1</c:v>
                </c:pt>
                <c:pt idx="3">
                  <c:v>2026-Q2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3.5</c:v>
                </c:pt>
                <c:pt idx="1">
                  <c:v>5.0</c:v>
                </c:pt>
                <c:pt idx="2">
                  <c:v>4.0</c:v>
                </c:pt>
                <c:pt idx="3">
                  <c:v>3.8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numFmt formatCode="0.0&quot;%&quot;" sourceLinked="0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k_title"/>
          <p:cNvSpPr txBox="1"/>
          <p:nvPr/>
        </p:nvSpPr>
        <p:spPr>
          <a:xfrm>
            <a:off x="548640" y="4572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en-US" sz="2900" b="1" dirty="0" i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NovaRetail Achieves Steady Growth Amid Regional Operational Risks</a:t>
            </a:r>
            <a:endParaRPr lang="en-US" sz="2900" dirty="0" b="1" i="0">
              <a:latin typeface="Cambria"/>
            </a:endParaRPr>
          </a:p>
        </p:txBody>
      </p:sp>
      <p:sp>
        <p:nvSpPr>
          <p:cNvPr id="3" name="subtitle_1"/>
          <p:cNvSpPr txBox="1"/>
          <p:nvPr/>
        </p:nvSpPr>
        <p:spPr>
          <a:xfrm>
            <a:off x="548640" y="107899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en-US" sz="1500" i="0" dirty="0" b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2026-Q2 | Board Review | Prepared 2026-10-07</a:t>
            </a:r>
            <a:endParaRPr lang="en-US" sz="1500" dirty="0" b="0" i="0">
              <a:latin typeface="Calibri"/>
            </a:endParaRPr>
          </a:p>
        </p:txBody>
      </p:sp>
      <p:sp>
        <p:nvSpPr>
          <p:cNvPr id="4" name="kpi1_box"/>
          <p:cNvSpPr/>
          <p:nvPr/>
        </p:nvSpPr>
        <p:spPr>
          <a:xfrm>
            <a:off x="548640" y="1874520"/>
            <a:ext cx="3453384" cy="1417320"/>
          </a:xfrm>
          <a:prstGeom prst="roundRect">
            <a:avLst>
              <a:gd name="adj" fmla="val 3871"/>
            </a:avLst>
          </a:prstGeom>
          <a:solidFill>
            <a:srgbClr val="14193F"/>
          </a:solidFill>
          <a:ln/>
        </p:spPr>
        <p:txBody>
          <a:bodyPr/>
          <a:p/>
        </p:txBody>
      </p:sp>
      <p:sp>
        <p:nvSpPr>
          <p:cNvPr id="5" name="kpi1_value"/>
          <p:cNvSpPr txBox="1"/>
          <p:nvPr/>
        </p:nvSpPr>
        <p:spPr>
          <a:xfrm>
            <a:off x="685800" y="2039112"/>
            <a:ext cx="31790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en-US" sz="3200" b="1" dirty="0" i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$1,280M</a:t>
            </a:r>
            <a:endParaRPr lang="en-US" sz="3200" dirty="0" b="1" i="0">
              <a:latin typeface="Cambria"/>
            </a:endParaRPr>
          </a:p>
        </p:txBody>
      </p:sp>
      <p:sp>
        <p:nvSpPr>
          <p:cNvPr id="6" name="kpi1_label"/>
          <p:cNvSpPr txBox="1"/>
          <p:nvPr/>
        </p:nvSpPr>
        <p:spPr>
          <a:xfrm>
            <a:off x="685800" y="274320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en-US" sz="1100" dirty="0" i="0" b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Latest-quarter revenue (USD M)</a:t>
            </a:r>
            <a:endParaRPr lang="en-US" sz="1100" dirty="0" b="0" i="0">
              <a:latin typeface="Calibri"/>
            </a:endParaRPr>
          </a:p>
        </p:txBody>
      </p:sp>
      <p:sp>
        <p:nvSpPr>
          <p:cNvPr id="7" name="kpi2_box"/>
          <p:cNvSpPr/>
          <p:nvPr/>
        </p:nvSpPr>
        <p:spPr>
          <a:xfrm>
            <a:off x="4367784" y="1874520"/>
            <a:ext cx="3453384" cy="1417320"/>
          </a:xfrm>
          <a:prstGeom prst="roundRect">
            <a:avLst>
              <a:gd name="adj" fmla="val 3871"/>
            </a:avLst>
          </a:prstGeom>
          <a:solidFill>
            <a:srgbClr val="14193F"/>
          </a:solidFill>
          <a:ln/>
        </p:spPr>
        <p:txBody>
          <a:bodyPr/>
          <a:p/>
        </p:txBody>
      </p:sp>
      <p:sp>
        <p:nvSpPr>
          <p:cNvPr id="8" name="kpi2_value"/>
          <p:cNvSpPr txBox="1"/>
          <p:nvPr/>
        </p:nvSpPr>
        <p:spPr>
          <a:xfrm>
            <a:off x="4504944" y="2039112"/>
            <a:ext cx="31790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en-US" sz="3200" b="1" dirty="0" i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+4.49%</a:t>
            </a:r>
            <a:endParaRPr lang="en-US" sz="3200" dirty="0" b="1" i="0">
              <a:latin typeface="Cambria"/>
            </a:endParaRPr>
          </a:p>
        </p:txBody>
      </p:sp>
      <p:sp>
        <p:nvSpPr>
          <p:cNvPr id="9" name="kpi2_label"/>
          <p:cNvSpPr txBox="1"/>
          <p:nvPr/>
        </p:nvSpPr>
        <p:spPr>
          <a:xfrm>
            <a:off x="4504944" y="274320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en-US" sz="1100" dirty="0" i="0" b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growth vs 2026-Q1</a:t>
            </a:r>
            <a:endParaRPr lang="en-US" sz="1100" dirty="0" b="0" i="0">
              <a:latin typeface="Calibri"/>
            </a:endParaRPr>
          </a:p>
        </p:txBody>
      </p:sp>
      <p:sp>
        <p:nvSpPr>
          <p:cNvPr id="10" name="kpi3_box"/>
          <p:cNvSpPr/>
          <p:nvPr/>
        </p:nvSpPr>
        <p:spPr>
          <a:xfrm>
            <a:off x="8186928" y="1874520"/>
            <a:ext cx="3453384" cy="1417320"/>
          </a:xfrm>
          <a:prstGeom prst="roundRect">
            <a:avLst>
              <a:gd name="adj" fmla="val 3871"/>
            </a:avLst>
          </a:prstGeom>
          <a:solidFill>
            <a:srgbClr val="14193F"/>
          </a:solidFill>
          <a:ln/>
        </p:spPr>
        <p:txBody>
          <a:bodyPr/>
          <a:p/>
        </p:txBody>
      </p:sp>
      <p:sp>
        <p:nvSpPr>
          <p:cNvPr id="11" name="kpi3_value"/>
          <p:cNvSpPr txBox="1"/>
          <p:nvPr/>
        </p:nvSpPr>
        <p:spPr>
          <a:xfrm>
            <a:off x="8324088" y="2039112"/>
            <a:ext cx="31790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en-US" sz="3200" b="1" dirty="0" i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49.75</a:t>
            </a:r>
            <a:endParaRPr lang="en-US" sz="3200" dirty="0" b="1" i="0">
              <a:latin typeface="Cambria"/>
            </a:endParaRPr>
          </a:p>
        </p:txBody>
      </p:sp>
      <p:sp>
        <p:nvSpPr>
          <p:cNvPr id="12" name="kpi3_label"/>
          <p:cNvSpPr txBox="1"/>
          <p:nvPr/>
        </p:nvSpPr>
        <p:spPr>
          <a:xfrm>
            <a:off x="8324088" y="274320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en-US" sz="1100" dirty="0" i="0" b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regional NPS (unweighted)</a:t>
            </a:r>
            <a:endParaRPr lang="en-US" sz="1100" dirty="0" b="0" i="0">
              <a:latin typeface="Calibri"/>
            </a:endParaRPr>
          </a:p>
        </p:txBody>
      </p:sp>
      <p:sp>
        <p:nvSpPr>
          <p:cNvPr id="13" name="summary_label"/>
          <p:cNvSpPr txBox="1"/>
          <p:nvPr/>
        </p:nvSpPr>
        <p:spPr>
          <a:xfrm>
            <a:off x="548640" y="3520440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300" dirty="0"/>
          </a:p>
        </p:txBody>
      </p:sp>
      <p:sp>
        <p:nvSpPr>
          <p:cNvPr id="14" name="summary_text"/>
          <p:cNvSpPr txBox="1"/>
          <p:nvPr/>
        </p:nvSpPr>
        <p:spPr>
          <a:xfrm>
            <a:off x="548640" y="3886200"/>
            <a:ext cx="9235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en-US" sz="1800" i="0" dirty="0" b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NovaRetail achieved total revenue of 1280.0 million USD in 2026-Q2, representing 4.49 percent QoQ growth. While APAC led expansion with 26.92 percent revenue growth since 2025-Q3, Latin America experienced a 6.67 percent revenue decline. Operational risks present the biggest threat, as Latin America delivery times rose by 2.0 days and fraud incidents increased by 12.</a:t>
            </a:r>
            <a:endParaRPr lang="en-US" sz="1800" dirty="0" b="0" i="0">
              <a:latin typeface="Calibri"/>
            </a:endParaRPr>
          </a:p>
        </p:txBody>
      </p:sp>
      <p:sp>
        <p:nvSpPr>
          <p:cNvPr id="17" name="footer_1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en-US" sz="900" dirty="0" i="0" b="0">
                <a:solidFill>
                  <a:srgbClr val="9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NovaRetail | Source: novaretail_dataset.xlsx | 2025-Q3 to 2026-Q2</a:t>
            </a:r>
            <a:endParaRPr lang="en-US" sz="900" dirty="0" b="0" i="0">
              <a:latin typeface="Calibri"/>
            </a:endParaRPr>
          </a:p>
        </p:txBody>
      </p:sp>
      <p:sp>
        <p:nvSpPr>
          <p:cNvPr id="18" name="page_num_1"/>
          <p:cNvSpPr txBox="1"/>
          <p:nvPr/>
        </p:nvSpPr>
        <p:spPr>
          <a:xfrm>
            <a:off x="11274552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r" indent="0" marL="0">
              <a:spcAft>
                <a:spcPts val="0"/>
              </a:spcAft>
              <a:buNone/>
            </a:pPr>
            <a:r>
              <a:rPr lang="en-US" sz="900" dirty="0" i="0" b="0">
                <a:solidFill>
                  <a:srgbClr val="9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 b="0" i="0">
              <a:latin typeface="Calibri"/>
            </a:endParaRPr>
          </a:p>
        </p:txBody>
      </p:sp>
      <p:pic>
        <p:nvPicPr>
          <p:cNvPr id="19" name="icon_1" descr="globe_reg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3886200"/>
            <a:ext cx="1581912" cy="15819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2"/>
          <p:cNvSpPr txBox="1"/>
          <p:nvPr/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en-US" sz="2400" b="1" i="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Expansion Led by APAC and North America</a:t>
            </a:r>
            <a:endParaRPr lang="en-US" sz="2400" dirty="0" b="1" i="0">
              <a:latin typeface="Cambria"/>
            </a:endParaRPr>
          </a:p>
        </p:txBody>
      </p:sp>
      <p:sp>
        <p:nvSpPr>
          <p:cNvPr id="5" name="insights_performance"/>
          <p:cNvSpPr txBox="1"/>
          <p:nvPr/>
        </p:nvSpPr>
        <p:spPr>
          <a:xfrm>
            <a:off x="7543800" y="1417320"/>
            <a:ext cx="409651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-177800" marL="177800">
              <a:spcAft>
                <a:spcPts val="1000"/>
              </a:spcAft>
              <a:buChar char="•"/>
            </a:pPr>
            <a:r>
              <a:rPr lang="en-US" sz="1300" i="0" dirty="0" b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 reached 1280.0 million USD in 2026-Q2, growing 4.49 percent QoQ from the previous quarter.</a:t>
            </a:r>
            <a:endParaRPr lang="en-US" sz="1300" dirty="0" b="0" i="0">
              <a:latin typeface="Calibri"/>
            </a:endParaRPr>
          </a:p>
          <a:p>
            <a:pPr algn="l" indent="-177800" marL="177800">
              <a:spcAft>
                <a:spcPts val="1000"/>
              </a:spcAft>
              <a:buChar char="•"/>
            </a:pPr>
            <a:r>
              <a:rPr lang="en-US" sz="1300" i="0" dirty="0" b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 revenue grew by 26.92 percent from 2025-Q3 to 2026-Q2, reaching 330.0 million USD.</a:t>
            </a:r>
            <a:endParaRPr sz="1300" b="0" i="0">
              <a:latin typeface="Calibri"/>
            </a:endParaRPr>
          </a:p>
          <a:p>
            <a:pPr algn="l" indent="-177800" marL="177800">
              <a:spcAft>
                <a:spcPts val="1000"/>
              </a:spcAft>
              <a:buChar char="•"/>
            </a:pPr>
            <a:r>
              <a:rPr lang="en-US" sz="1300" i="0" dirty="0" b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America remains the top revenue contributor, increasing by 45.0 million USD to 465.0 million USD.</a:t>
            </a:r>
            <a:endParaRPr sz="1300" b="0" i="0">
              <a:latin typeface="Calibri"/>
            </a:endParaRPr>
          </a:p>
          <a:p>
            <a:pPr algn="l" indent="-177800" marL="177800">
              <a:spcAft>
                <a:spcPts val="1000"/>
              </a:spcAft>
              <a:buChar char="•"/>
            </a:pPr>
            <a:r>
              <a:rPr lang="en-US" sz="1300" i="0" dirty="0" b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Latin America revenue declined by 6.67 percent, falling from 150.0 million USD to 140.0 million USD.</a:t>
            </a:r>
            <a:endParaRPr sz="1300" b="0" i="0">
              <a:latin typeface="Calibri"/>
            </a:endParaRPr>
          </a:p>
        </p:txBody>
      </p:sp>
      <p:sp>
        <p:nvSpPr>
          <p:cNvPr id="8" name="footer_2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en-US" sz="900" dirty="0" i="0" b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NovaRetail | Source: novaretail_dataset.xlsx | 2025-Q3 to 2026-Q2</a:t>
            </a:r>
            <a:endParaRPr lang="en-US" sz="900" dirty="0" b="0" i="0">
              <a:latin typeface="Calibri"/>
            </a:endParaRPr>
          </a:p>
        </p:txBody>
      </p:sp>
      <p:sp>
        <p:nvSpPr>
          <p:cNvPr id="9" name="page_num_2"/>
          <p:cNvSpPr txBox="1"/>
          <p:nvPr/>
        </p:nvSpPr>
        <p:spPr>
          <a:xfrm>
            <a:off x="11274552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r" indent="0" marL="0">
              <a:spcAft>
                <a:spcPts val="0"/>
              </a:spcAft>
              <a:buNone/>
            </a:pPr>
            <a:r>
              <a:rPr lang="en-US" sz="900" dirty="0" i="0" b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 b="0" i="0">
              <a:latin typeface="Calibri"/>
            </a:endParaRPr>
          </a:p>
        </p:txBody>
      </p:sp>
      <p:graphicFrame>
        <p:nvGraphicFramePr>
          <p:cNvPr id="10" name="chart_performance"/>
          <p:cNvGraphicFramePr>
            <a:graphicFrameLocks noGrp="1"/>
          </p:cNvGraphicFramePr>
          <p:nvPr/>
        </p:nvGraphicFramePr>
        <p:xfrm>
          <a:off x="548640" y="1417320"/>
          <a:ext cx="6675120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pic>
        <p:nvPicPr>
          <p:cNvPr id="11" name="icon_2" descr="growth_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0" y="5166360"/>
            <a:ext cx="1051560" cy="10515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3"/>
          <p:cNvSpPr txBox="1"/>
          <p:nvPr/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en-US" sz="2400" b="1" i="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Experience Diverges Across Key Regions</a:t>
            </a:r>
            <a:endParaRPr lang="en-US" sz="2400" dirty="0" b="1" i="0">
              <a:latin typeface="Cambria"/>
            </a:endParaRPr>
          </a:p>
        </p:txBody>
      </p:sp>
      <p:sp>
        <p:nvSpPr>
          <p:cNvPr id="5" name="insights_customer"/>
          <p:cNvSpPr txBox="1"/>
          <p:nvPr/>
        </p:nvSpPr>
        <p:spPr>
          <a:xfrm>
            <a:off x="7543800" y="1417320"/>
            <a:ext cx="409651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-177800" marL="177800">
              <a:spcAft>
                <a:spcPts val="1000"/>
              </a:spcAft>
              <a:buChar char="•"/>
            </a:pPr>
            <a:r>
              <a:rPr lang="en-US" sz="1300" i="0" dirty="0" b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regional NPS stands at 49.75 points, with APAC leading at 62.0 points in 2026-Q2.</a:t>
            </a:r>
            <a:endParaRPr lang="en-US" sz="1300" dirty="0" b="0" i="0">
              <a:latin typeface="Calibri"/>
            </a:endParaRPr>
          </a:p>
          <a:p>
            <a:pPr algn="l" indent="-177800" marL="177800">
              <a:spcAft>
                <a:spcPts val="1000"/>
              </a:spcAft>
              <a:buChar char="•"/>
            </a:pPr>
            <a:r>
              <a:rPr lang="en-US" sz="1300" i="0" dirty="0" b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Latin America NPS fell by 9.0 points to 29.0 points, while CSAT decreased by 6.0 percentage points.</a:t>
            </a:r>
            <a:endParaRPr sz="1300" b="0" i="0">
              <a:latin typeface="Calibri"/>
            </a:endParaRPr>
          </a:p>
          <a:p>
            <a:pPr algn="l" indent="-177800" marL="177800">
              <a:spcAft>
                <a:spcPts val="1000"/>
              </a:spcAft>
              <a:buChar char="•"/>
            </a:pPr>
            <a:r>
              <a:rPr lang="en-US" sz="1300" i="0" dirty="0" b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 improved customer satisfaction, raising NPS by 5.0 points and CSAT by 2.0 percentage points.</a:t>
            </a:r>
            <a:endParaRPr sz="1300" b="0" i="0">
              <a:latin typeface="Calibri"/>
            </a:endParaRPr>
          </a:p>
          <a:p>
            <a:pPr algn="l" indent="-177800" marL="177800">
              <a:spcAft>
                <a:spcPts val="1000"/>
              </a:spcAft>
              <a:buChar char="•"/>
            </a:pPr>
            <a:r>
              <a:rPr lang="en-US" sz="1300" i="0" dirty="0" b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America customer metrics improved slightly, with NPS rising by 3.0 points to 55.0 points.</a:t>
            </a:r>
            <a:endParaRPr sz="1300" b="0" i="0">
              <a:latin typeface="Calibri"/>
            </a:endParaRPr>
          </a:p>
        </p:txBody>
      </p:sp>
      <p:sp>
        <p:nvSpPr>
          <p:cNvPr id="8" name="footer_3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en-US" sz="900" dirty="0" i="0" b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NovaRetail | Source: novaretail_dataset.xlsx | 2025-Q3 to 2026-Q2</a:t>
            </a:r>
            <a:endParaRPr lang="en-US" sz="900" dirty="0" b="0" i="0">
              <a:latin typeface="Calibri"/>
            </a:endParaRPr>
          </a:p>
        </p:txBody>
      </p:sp>
      <p:sp>
        <p:nvSpPr>
          <p:cNvPr id="9" name="page_num_3"/>
          <p:cNvSpPr txBox="1"/>
          <p:nvPr/>
        </p:nvSpPr>
        <p:spPr>
          <a:xfrm>
            <a:off x="11274552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r" indent="0" marL="0">
              <a:spcAft>
                <a:spcPts val="0"/>
              </a:spcAft>
              <a:buNone/>
            </a:pPr>
            <a:r>
              <a:rPr lang="en-US" sz="900" dirty="0" i="0" b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 b="0" i="0">
              <a:latin typeface="Calibri"/>
            </a:endParaRPr>
          </a:p>
        </p:txBody>
      </p:sp>
      <p:graphicFrame>
        <p:nvGraphicFramePr>
          <p:cNvPr id="10" name="chart_customer"/>
          <p:cNvGraphicFramePr>
            <a:graphicFrameLocks noGrp="1"/>
          </p:cNvGraphicFramePr>
          <p:nvPr/>
        </p:nvGraphicFramePr>
        <p:xfrm>
          <a:off x="548640" y="1417320"/>
          <a:ext cx="6675120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pic>
        <p:nvPicPr>
          <p:cNvPr id="11" name="icon_3" descr="customer_st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0" y="5166360"/>
            <a:ext cx="1051560" cy="10515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4"/>
          <p:cNvSpPr txBox="1"/>
          <p:nvPr/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en-US" sz="2400" b="1" i="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Operational Risks and Supply Chain Constraints Intensify</a:t>
            </a:r>
            <a:endParaRPr lang="en-US" sz="2400" dirty="0" b="1" i="0">
              <a:latin typeface="Cambria"/>
            </a:endParaRPr>
          </a:p>
        </p:txBody>
      </p:sp>
      <p:sp>
        <p:nvSpPr>
          <p:cNvPr id="5" name="insights_risk"/>
          <p:cNvSpPr txBox="1"/>
          <p:nvPr/>
        </p:nvSpPr>
        <p:spPr>
          <a:xfrm>
            <a:off x="7543800" y="1417320"/>
            <a:ext cx="409651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-177800" marL="177800">
              <a:spcAft>
                <a:spcPts val="1000"/>
              </a:spcAft>
              <a:buChar char="•"/>
            </a:pPr>
            <a:r>
              <a:rPr lang="en-US" sz="1300" i="0" dirty="0" b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Latin America delivery times increased by 2.0 days, while support tickets surged by 11.0K.</a:t>
            </a:r>
            <a:endParaRPr lang="en-US" sz="1300" dirty="0" b="0" i="0">
              <a:latin typeface="Calibri"/>
            </a:endParaRPr>
          </a:p>
          <a:p>
            <a:pPr algn="l" indent="-177800" marL="177800">
              <a:spcAft>
                <a:spcPts val="1000"/>
              </a:spcAft>
              <a:buChar char="•"/>
            </a:pPr>
            <a:r>
              <a:rPr lang="en-US" sz="1300" i="0" dirty="0" b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incidents in Latin America rose from 18 to 30, representing a significant security risk.</a:t>
            </a:r>
            <a:endParaRPr sz="1300" b="0" i="0">
              <a:latin typeface="Calibri"/>
            </a:endParaRPr>
          </a:p>
          <a:p>
            <a:pPr algn="l" indent="-177800" marL="177800">
              <a:spcAft>
                <a:spcPts val="1000"/>
              </a:spcAft>
              <a:buChar char="•"/>
            </a:pPr>
            <a:r>
              <a:rPr lang="en-US" sz="1300" i="0" dirty="0" b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 warehouse capacity utilization reached 92.0 percent, while stockout rates increased by 2.5 percentage points.</a:t>
            </a:r>
            <a:endParaRPr sz="1300" b="0" i="0">
              <a:latin typeface="Calibri"/>
            </a:endParaRPr>
          </a:p>
          <a:p>
            <a:pPr algn="l" indent="-177800" marL="177800">
              <a:spcAft>
                <a:spcPts val="1000"/>
              </a:spcAft>
              <a:buChar char="•"/>
            </a:pPr>
            <a:r>
              <a:rPr lang="en-US" sz="1300" i="0" dirty="0" b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rate in Latin America increased by 1.7 percentage points, reaching 8.2 percent in 2026-Q2.</a:t>
            </a:r>
            <a:endParaRPr sz="1300" b="0" i="0">
              <a:latin typeface="Calibri"/>
            </a:endParaRPr>
          </a:p>
        </p:txBody>
      </p:sp>
      <p:sp>
        <p:nvSpPr>
          <p:cNvPr id="8" name="footer_4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en-US" sz="900" dirty="0" i="0" b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NovaRetail | Source: novaretail_dataset.xlsx | 2025-Q3 to 2026-Q2</a:t>
            </a:r>
            <a:endParaRPr lang="en-US" sz="900" dirty="0" b="0" i="0">
              <a:latin typeface="Calibri"/>
            </a:endParaRPr>
          </a:p>
        </p:txBody>
      </p:sp>
      <p:sp>
        <p:nvSpPr>
          <p:cNvPr id="9" name="page_num_4"/>
          <p:cNvSpPr txBox="1"/>
          <p:nvPr/>
        </p:nvSpPr>
        <p:spPr>
          <a:xfrm>
            <a:off x="11274552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r" indent="0" marL="0">
              <a:spcAft>
                <a:spcPts val="0"/>
              </a:spcAft>
              <a:buNone/>
            </a:pPr>
            <a:r>
              <a:rPr lang="en-US" sz="900" dirty="0" i="0" b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 b="0" i="0">
              <a:latin typeface="Calibri"/>
            </a:endParaRPr>
          </a:p>
        </p:txBody>
      </p:sp>
      <p:graphicFrame>
        <p:nvGraphicFramePr>
          <p:cNvPr id="10" name="chart_risk"/>
          <p:cNvGraphicFramePr>
            <a:graphicFrameLocks noGrp="1"/>
          </p:cNvGraphicFramePr>
          <p:nvPr/>
        </p:nvGraphicFramePr>
        <p:xfrm>
          <a:off x="548640" y="1417320"/>
          <a:ext cx="6675120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pic>
        <p:nvPicPr>
          <p:cNvPr id="11" name="icon_4" descr="risk_ale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0" y="5166360"/>
            <a:ext cx="1051560" cy="10515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5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en-US" sz="2800" b="1" dirty="0" i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Actions to Address Operational Bottlenecks</a:t>
            </a:r>
            <a:endParaRPr lang="en-US" sz="2800" dirty="0" b="1" i="0">
              <a:latin typeface="Cambria"/>
            </a:endParaRPr>
          </a:p>
        </p:txBody>
      </p:sp>
      <p:sp>
        <p:nvSpPr>
          <p:cNvPr id="3" name="recommendations_text"/>
          <p:cNvSpPr txBox="1"/>
          <p:nvPr/>
        </p:nvSpPr>
        <p:spPr>
          <a:xfrm>
            <a:off x="548640" y="1463040"/>
            <a:ext cx="66751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-177800" marL="177800">
              <a:spcAft>
                <a:spcPts val="1000"/>
              </a:spcAft>
              <a:buChar char="•"/>
            </a:pPr>
            <a:r>
              <a:rPr lang="en-US" sz="1600" i="0" dirty="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</a:t>
            </a:r>
            <a:r>
              <a:rPr lang="en-US" sz="1600" i="0" dirty="0" b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warehouse capacity in APAC to address the 92.0 percent utilization rate and rising stockouts.</a:t>
            </a:r>
            <a:endParaRPr lang="en-US" sz="1600" dirty="0" b="0" i="0">
              <a:latin typeface="Calibri"/>
            </a:endParaRPr>
          </a:p>
          <a:p>
            <a:pPr algn="l" indent="-177800" marL="177800">
              <a:spcAft>
                <a:spcPts val="1000"/>
              </a:spcAft>
              <a:buChar char="•"/>
            </a:pPr>
            <a:r>
              <a:rPr lang="en-US" sz="1600" i="0" dirty="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</a:t>
            </a:r>
            <a:r>
              <a:rPr lang="en-US" sz="1600" i="0" dirty="0" b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fraud prevention measures in Latin America to address the rise to 30 fraud incidents.</a:t>
            </a:r>
            <a:endParaRPr sz="1600" b="0" i="0">
              <a:latin typeface="Calibri"/>
            </a:endParaRPr>
          </a:p>
          <a:p>
            <a:pPr algn="l" indent="-177800" marL="177800">
              <a:spcAft>
                <a:spcPts val="1000"/>
              </a:spcAft>
              <a:buChar char="•"/>
            </a:pPr>
            <a:r>
              <a:rPr lang="en-US" sz="1600" i="0" dirty="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</a:t>
            </a:r>
            <a:r>
              <a:rPr lang="en-US" sz="1600" i="0" dirty="0" b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Latin America logistics to reduce delivery times, which increased by 2.0 days since 2025-Q3.</a:t>
            </a:r>
            <a:endParaRPr sz="1600" b="0" i="0">
              <a:latin typeface="Calibri"/>
            </a:endParaRPr>
          </a:p>
          <a:p>
            <a:pPr algn="l" indent="-177800" marL="177800">
              <a:spcAft>
                <a:spcPts val="1000"/>
              </a:spcAft>
              <a:buChar char="•"/>
            </a:pPr>
            <a:r>
              <a:rPr lang="en-US" sz="1600" i="0" dirty="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Streamline</a:t>
            </a:r>
            <a:r>
              <a:rPr lang="en-US" sz="1600" i="0" dirty="0" b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return processing in APAC to reduce processing times, which rose by 1.0 days.</a:t>
            </a:r>
            <a:endParaRPr sz="1600" b="0" i="0">
              <a:latin typeface="Calibri"/>
            </a:endParaRPr>
          </a:p>
        </p:txBody>
      </p:sp>
      <p:sp>
        <p:nvSpPr>
          <p:cNvPr id="6" name="closing_statement"/>
          <p:cNvSpPr txBox="1"/>
          <p:nvPr/>
        </p:nvSpPr>
        <p:spPr>
          <a:xfrm>
            <a:off x="548640" y="5897880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en-US" sz="1400" i="0" dirty="0" b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Addressing these operational challenges will help stabilize Latin America and sustain APAC growth.</a:t>
            </a:r>
            <a:endParaRPr lang="en-US" sz="1400" dirty="0" b="0" i="0">
              <a:latin typeface="Calibri"/>
            </a:endParaRPr>
          </a:p>
        </p:txBody>
      </p:sp>
      <p:sp>
        <p:nvSpPr>
          <p:cNvPr id="7" name="footer_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en-US" sz="900" dirty="0" i="0" b="0">
                <a:solidFill>
                  <a:srgbClr val="9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NovaRetail | Source: novaretail_dataset.xlsx | 2025-Q3 to 2026-Q2</a:t>
            </a:r>
            <a:endParaRPr lang="en-US" sz="900" dirty="0" b="0" i="0">
              <a:latin typeface="Calibri"/>
            </a:endParaRPr>
          </a:p>
        </p:txBody>
      </p:sp>
      <p:sp>
        <p:nvSpPr>
          <p:cNvPr id="8" name="page_num_5"/>
          <p:cNvSpPr txBox="1"/>
          <p:nvPr/>
        </p:nvSpPr>
        <p:spPr>
          <a:xfrm>
            <a:off x="11274552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r" indent="0" marL="0">
              <a:spcAft>
                <a:spcPts val="0"/>
              </a:spcAft>
              <a:buNone/>
            </a:pPr>
            <a:r>
              <a:rPr lang="en-US" sz="900" dirty="0" i="0" b="0">
                <a:solidFill>
                  <a:srgbClr val="9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 b="0" i="0">
              <a:latin typeface="Calibri"/>
            </a:endParaRPr>
          </a:p>
        </p:txBody>
      </p:sp>
      <p:pic>
        <p:nvPicPr>
          <p:cNvPr id="9" name="icon_5" descr="lightbulb_a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463040"/>
            <a:ext cx="1463040" cy="14630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2026-10-05T14:35:45Z</dcterms:created>
  <dcterms:modified xsi:type="dcterms:W3CDTF">2026-10-05T14:35:45Z</dcterms:modified>
</cp:coreProperties>
</file>