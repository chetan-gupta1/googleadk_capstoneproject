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Revenue by region (USD 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260.0</c:v>
                </c:pt>
                <c:pt idx="1">
                  <c:v>300.0</c:v>
                </c:pt>
                <c:pt idx="2">
                  <c:v>305.0</c:v>
                </c:pt>
                <c:pt idx="3">
                  <c:v>330.0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310.0</c:v>
                </c:pt>
                <c:pt idx="1">
                  <c:v>350.0</c:v>
                </c:pt>
                <c:pt idx="2">
                  <c:v>330.0</c:v>
                </c:pt>
                <c:pt idx="3">
                  <c:v>345.0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150.0</c:v>
                </c:pt>
                <c:pt idx="1">
                  <c:v>165.0</c:v>
                </c:pt>
                <c:pt idx="2">
                  <c:v>150.0</c:v>
                </c:pt>
                <c:pt idx="3">
                  <c:v>140.0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420.0</c:v>
                </c:pt>
                <c:pt idx="1">
                  <c:v>460.0</c:v>
                </c:pt>
                <c:pt idx="2">
                  <c:v>440.0</c:v>
                </c:pt>
                <c:pt idx="3">
                  <c:v>465.0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Customer NPS by region (points)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60.0</c:v>
                </c:pt>
                <c:pt idx="2">
                  <c:v>61.0</c:v>
                </c:pt>
                <c:pt idx="3">
                  <c:v>62.0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48.0</c:v>
                </c:pt>
                <c:pt idx="1">
                  <c:v>50.0</c:v>
                </c:pt>
                <c:pt idx="2">
                  <c:v>51.0</c:v>
                </c:pt>
                <c:pt idx="3">
                  <c:v>53.0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38.0</c:v>
                </c:pt>
                <c:pt idx="1">
                  <c:v>35.0</c:v>
                </c:pt>
                <c:pt idx="2">
                  <c:v>32.0</c:v>
                </c:pt>
                <c:pt idx="3">
                  <c:v>29.0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52.0</c:v>
                </c:pt>
                <c:pt idx="1">
                  <c:v>54.0</c:v>
                </c:pt>
                <c:pt idx="2">
                  <c:v>53.0</c:v>
                </c:pt>
                <c:pt idx="3">
                  <c:v>55.0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Stockout rate by region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</c:v>
                </c:pt>
                <c:pt idx="1">
                  <c:v>7.5</c:v>
                </c:pt>
                <c:pt idx="2">
                  <c:v>8.0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</c:v>
                </c:pt>
                <c:pt idx="1">
                  <c:v>4.5</c:v>
                </c:pt>
                <c:pt idx="2">
                  <c:v>4.2</c:v>
                </c:pt>
                <c:pt idx="3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9.0</c:v>
                </c:pt>
                <c:pt idx="1">
                  <c:v>10.5</c:v>
                </c:pt>
                <c:pt idx="2">
                  <c:v>11.0</c:v>
                </c:pt>
                <c:pt idx="3">
                  <c:v>12.5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3.5</c:v>
                </c:pt>
                <c:pt idx="1">
                  <c:v>5.0</c:v>
                </c:pt>
                <c:pt idx="2">
                  <c:v>4.0</c:v>
                </c:pt>
                <c:pt idx="3">
                  <c:v>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0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Q2 2026 Performance and Regional QBR Overview</a:t>
            </a:r>
            <a:endParaRPr lang="en-US" sz="3000" dirty="0" b="1" i="0">
              <a:latin typeface="Cambria"/>
            </a:endParaRPr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i="0" dirty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2026-Q2 | Board Review | Prepared 2026-10-13</a:t>
            </a:r>
            <a:endParaRPr lang="en-US" sz="1500" dirty="0" b="0" i="0">
              <a:latin typeface="Calibri"/>
            </a:endParaRPr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$1,280M</a:t>
            </a:r>
            <a:endParaRPr lang="en-US" sz="3200" dirty="0" b="1" i="0">
              <a:latin typeface="Cambria"/>
            </a:endParaRPr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Latest-quarter revenue (USD M)</a:t>
            </a:r>
            <a:endParaRPr lang="en-US" sz="1100" dirty="0" b="0" i="0">
              <a:latin typeface="Calibri"/>
            </a:endParaRPr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+4.49%</a:t>
            </a:r>
            <a:endParaRPr lang="en-US" sz="3200" dirty="0" b="1" i="0">
              <a:latin typeface="Cambria"/>
            </a:endParaRPr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vs 2026-Q1</a:t>
            </a:r>
            <a:endParaRPr lang="en-US" sz="1100" dirty="0" b="0" i="0">
              <a:latin typeface="Calibri"/>
            </a:endParaRPr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49.75</a:t>
            </a:r>
            <a:endParaRPr lang="en-US" sz="3200" dirty="0" b="1" i="0">
              <a:latin typeface="Cambria"/>
            </a:endParaRPr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regional NPS (unweighted)</a:t>
            </a:r>
            <a:endParaRPr lang="en-US" sz="1100" dirty="0" b="0" i="0">
              <a:latin typeface="Calibri"/>
            </a:endParaRPr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8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reached $1,280M in 2026-Q2 with 4.5% QoQ growth across all operating regions. Strong growth in APAC, where revenue expanded 26.9% to $330M, highlights significant expansion opportunities. However, severe operational strain in Latin America represents our biggest risk, with stockouts rising 3.5 percentage points to 12.5% and NPS falling 9 points to 29.</a:t>
            </a:r>
            <a:endParaRPr lang="en-US" sz="1800" dirty="0" b="0" i="0">
              <a:latin typeface="Calibri"/>
            </a:endParaRPr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 b="0" i="0">
              <a:latin typeface="Calibri"/>
            </a:endParaRPr>
          </a:p>
        </p:txBody>
      </p:sp>
      <p:pic>
        <p:nvPicPr>
          <p:cNvPr id="19" name="icon_1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Revenue Performance and Portfolio Expansion Trends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top-line growth in North America, increasing sales by $45M from 2025-Q3 to reach $465M.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APAC revenue expansion by 26.9% to $330M with 860K unit sales in 2026-Q2.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steady European growth, expanding top-line revenue by 11.3% to $345M across quarters.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Latin America revenue contraction of 6.7% to $140M as unit volume fell to 390K.</a:t>
            </a:r>
            <a:endParaRPr sz="1300" b="0" i="0">
              <a:latin typeface="Calibri"/>
            </a:endParaRP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performance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2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Customer Experience and Satisfaction Trajectories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customer satisfaction in APAC, achieving a 62 NPS and 92% CSAT to lift overall metrics.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European customer experience, raising NPS by 5 points to 53 while cutting delivery to 3.2 days.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North America satisfaction, boosting NPS by 3 points to 55 while stabilizing ticket volume.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Latin America customer friction, tackling a 9-point NPS drop to 29 caused by 7.5-day delivery delays.</a:t>
            </a:r>
            <a:endParaRPr sz="1300" b="0" i="0">
              <a:latin typeface="Calibri"/>
            </a:endParaRP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customer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3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Risk Factors Across Logistics and Security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Latin America supply bottlenecks to curb rising stockout rates that reached 12.5%.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 Latin America security risks, responding to fraud cases jumping from 18 to 30 incidents.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 APAC warehouse strain as 92% capacity utilization drove stockout rates up to 8.5%.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Latin America return processing timelines after delays extended turnaround to 10 days.</a:t>
            </a:r>
            <a:endParaRPr sz="1300" b="0" i="0">
              <a:latin typeface="Calibri"/>
            </a:endParaRP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risk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4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8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for Operational Optimization</a:t>
            </a:r>
            <a:endParaRPr lang="en-US" sz="2800" dirty="0" b="1" i="0">
              <a:latin typeface="Cambria"/>
            </a:endParaRPr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APAC warehouse capacity to resolve 92% utilization and lower stockout rates from 8.5%.</a:t>
            </a:r>
            <a:endParaRPr lang="en-US" sz="16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robust fraud prevention controls in Latin America to counter the 30 reported security incidents.</a:t>
            </a:r>
            <a:endParaRPr sz="16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Overhaul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Latin America logistics to reduce 7.5-day delivery times and reverse the 9-point NPS drop.</a:t>
            </a:r>
            <a:endParaRPr sz="16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return processing workflows to reduce turnaround delays across high-volume hubs.</a:t>
            </a:r>
            <a:endParaRPr sz="1600" b="0" i="0">
              <a:latin typeface="Calibri"/>
            </a:endParaRP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i="0" dirty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operational investments will stabilize high-risk regions while supporting sustainable growth across global markets.</a:t>
            </a:r>
            <a:endParaRPr lang="en-US" sz="1400" dirty="0" b="0" i="0">
              <a:latin typeface="Calibri"/>
            </a:endParaRPr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 b="0" i="0">
              <a:latin typeface="Calibri"/>
            </a:endParaRPr>
          </a:p>
        </p:txBody>
      </p:sp>
      <p:pic>
        <p:nvPicPr>
          <p:cNvPr id="9" name="icon_5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